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0160">
            <a:solidFill>
              <a:srgbClr val="D8DC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654710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INDIA  /  SOCIAL INFRASTRUCTURE DISCOVERY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510528"/>
            <a:ext cx="11000232" cy="0"/>
          </a:xfrm>
          <a:prstGeom prst="line">
            <a:avLst/>
          </a:prstGeom>
          <a:noFill/>
          <a:ln w="10160">
            <a:solidFill>
              <a:srgbClr val="2A3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6547104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A4B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INDIA  /  SOCIAL INFRASTRUCTURE DISCOVERY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4B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67512"/>
            <a:ext cx="2697480" cy="310896"/>
          </a:xfrm>
          <a:prstGeom prst="roundRect">
            <a:avLst>
              <a:gd name="adj" fmla="val 29412"/>
            </a:avLst>
          </a:prstGeom>
          <a:solidFill>
            <a:srgbClr val="132B3A"/>
          </a:solidFill>
          <a:ln w="10160">
            <a:solidFill>
              <a:srgbClr val="132B3A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41248" y="699516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AICTE  ×  IBM SKILLSBUILD  ×  BHARATCARES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07592"/>
            <a:ext cx="60350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INVISIBLE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22376" y="3218688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Social Infrastructure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Network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178808"/>
            <a:ext cx="493776" cy="0"/>
          </a:xfrm>
          <a:prstGeom prst="line">
            <a:avLst/>
          </a:prstGeom>
          <a:noFill/>
          <a:ln w="40640">
            <a:solidFill>
              <a:srgbClr val="F1AE4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731520" y="441655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doesn’t only need more resources.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needs to discover the resources it already has.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5742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ZAARA MARIYAM  ·  2026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0" y="1005840"/>
            <a:ext cx="3886200" cy="4709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71232" y="5577840"/>
            <a:ext cx="2103120" cy="274320"/>
          </a:xfrm>
          <a:prstGeom prst="roundRect">
            <a:avLst>
              <a:gd name="adj" fmla="val 33333"/>
            </a:avLst>
          </a:prstGeom>
          <a:solidFill>
            <a:srgbClr val="132B3A"/>
          </a:solidFill>
          <a:ln w="10160">
            <a:solidFill>
              <a:srgbClr val="132B3A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62672" y="559155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1A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CAPACITY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4B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GAP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India’s hidden resources remain disconnected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capacity exists. Finding the right connection is still difficult.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98448" y="2542032"/>
            <a:ext cx="1938528" cy="19385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8DC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9696" y="2724912"/>
            <a:ext cx="256032" cy="256032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3246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9784" y="2542032"/>
            <a:ext cx="1938528" cy="19385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8DC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71032" y="2724912"/>
            <a:ext cx="256032" cy="256032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94376" y="3246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2542032"/>
            <a:ext cx="1938528" cy="19385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8DC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02368" y="2724912"/>
            <a:ext cx="256032" cy="256032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25712" y="3246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NEEDS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64992" y="3511296"/>
            <a:ext cx="1600200" cy="0"/>
          </a:xfrm>
          <a:prstGeom prst="line">
            <a:avLst/>
          </a:prstGeom>
          <a:noFill/>
          <a:ln w="15240">
            <a:solidFill>
              <a:srgbClr val="66746F"/>
            </a:solidFill>
            <a:prstDash val="dash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168896" y="3511296"/>
            <a:ext cx="1609344" cy="0"/>
          </a:xfrm>
          <a:prstGeom prst="line">
            <a:avLst/>
          </a:prstGeom>
          <a:noFill/>
          <a:ln w="15240">
            <a:solidFill>
              <a:srgbClr val="66746F"/>
            </a:solidFill>
            <a:prstDash val="dash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3858768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SCATTERED INFORMATION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931152" y="3977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CONNECTIONS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12848" y="4846320"/>
            <a:ext cx="7772400" cy="676656"/>
          </a:xfrm>
          <a:prstGeom prst="roundRect">
            <a:avLst>
              <a:gd name="adj" fmla="val 13514"/>
            </a:avLst>
          </a:prstGeom>
          <a:solidFill>
            <a:srgbClr val="F7E8CC"/>
          </a:solidFill>
          <a:ln w="10160">
            <a:solidFill>
              <a:srgbClr val="F7E8CC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50592" y="5010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discovery, not only availability.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IDEA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Invisible India?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network to surface useful relationships between people and local capacity.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9048" y="3767328"/>
            <a:ext cx="-2990088" cy="-1280160"/>
          </a:xfrm>
          <a:prstGeom prst="line">
            <a:avLst/>
          </a:prstGeom>
          <a:noFill/>
          <a:ln w="17145">
            <a:solidFill>
              <a:srgbClr val="31515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099048" y="3767328"/>
            <a:ext cx="2724912" cy="-1280160"/>
          </a:xfrm>
          <a:prstGeom prst="line">
            <a:avLst/>
          </a:prstGeom>
          <a:noFill/>
          <a:ln w="17145">
            <a:solidFill>
              <a:srgbClr val="31515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099048" y="3767328"/>
            <a:ext cx="-2990088" cy="932688"/>
          </a:xfrm>
          <a:prstGeom prst="line">
            <a:avLst/>
          </a:prstGeom>
          <a:noFill/>
          <a:ln w="17145">
            <a:solidFill>
              <a:srgbClr val="31515C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6099048" y="3767328"/>
            <a:ext cx="2724912" cy="932688"/>
          </a:xfrm>
          <a:prstGeom prst="line">
            <a:avLst/>
          </a:prstGeom>
          <a:noFill/>
          <a:ln w="17145">
            <a:solidFill>
              <a:srgbClr val="31515C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084064" y="3063240"/>
            <a:ext cx="2029968" cy="2029968"/>
          </a:xfrm>
          <a:prstGeom prst="ellipse">
            <a:avLst/>
          </a:prstGeom>
          <a:solidFill>
            <a:srgbClr val="132B3A"/>
          </a:solidFill>
          <a:ln w="15240">
            <a:solidFill>
              <a:srgbClr val="3151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61888" y="3392424"/>
            <a:ext cx="274320" cy="27432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30952" y="3840480"/>
            <a:ext cx="1536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CONNECT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ACTIVATE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84832" y="2084832"/>
            <a:ext cx="182880" cy="18288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95728" y="20528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22792" y="2084832"/>
            <a:ext cx="182880" cy="18288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33688" y="20528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4480560"/>
            <a:ext cx="182880" cy="182880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14016" y="44485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66760" y="4480560"/>
            <a:ext cx="182880" cy="18288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77656" y="44485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NEEDS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44568" y="5614416"/>
            <a:ext cx="3154680" cy="274320"/>
          </a:xfrm>
          <a:prstGeom prst="roundRect">
            <a:avLst>
              <a:gd name="adj" fmla="val 33333"/>
            </a:avLst>
          </a:prstGeom>
          <a:solidFill>
            <a:srgbClr val="132B3A"/>
          </a:solidFill>
          <a:ln w="10160">
            <a:solidFill>
              <a:srgbClr val="132B3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36008" y="56281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1A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 ·  HUMAN-VALIDATED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4B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WORKFLOW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information to potential connections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four-step path, with human validation before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081528"/>
            <a:ext cx="512064" cy="512064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09524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3081528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+ needs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73552" y="3355848"/>
            <a:ext cx="329184" cy="0"/>
          </a:xfrm>
          <a:prstGeom prst="line">
            <a:avLst/>
          </a:prstGeom>
          <a:noFill/>
          <a:ln w="25400">
            <a:solidFill>
              <a:srgbClr val="D8DCD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502152" y="3264408"/>
            <a:ext cx="182880" cy="18288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8803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3081528"/>
            <a:ext cx="512064" cy="512064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309524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081528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+ classify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8192" y="3355848"/>
            <a:ext cx="329184" cy="0"/>
          </a:xfrm>
          <a:prstGeom prst="line">
            <a:avLst/>
          </a:prstGeom>
          <a:noFill/>
          <a:ln w="25400">
            <a:solidFill>
              <a:srgbClr val="D8DCD7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336792" y="3264408"/>
            <a:ext cx="182880" cy="18288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8803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3081528"/>
            <a:ext cx="512064" cy="512064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309524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081528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relevant links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42832" y="3355848"/>
            <a:ext cx="329184" cy="0"/>
          </a:xfrm>
          <a:prstGeom prst="line">
            <a:avLst/>
          </a:prstGeom>
          <a:noFill/>
          <a:ln w="25400">
            <a:solidFill>
              <a:srgbClr val="D8DCD7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71432" y="3264408"/>
            <a:ext cx="182880" cy="18288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0" y="28803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0" y="3081528"/>
            <a:ext cx="512064" cy="512064"/>
          </a:xfrm>
          <a:prstGeom prst="ellipse">
            <a:avLst/>
          </a:prstGeom>
          <a:solidFill>
            <a:srgbClr val="167C76"/>
          </a:solidFill>
          <a:ln w="10160">
            <a:solidFill>
              <a:srgbClr val="167C7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09760" y="309524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0" y="3081528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399592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validation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93592" y="5038344"/>
            <a:ext cx="4992624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85032" y="5052060"/>
            <a:ext cx="4809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ARE NOT AUTOMATIC DECISIONS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APPLIED AI/ML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proposed intelligence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architecture; confirm each technique against the working prototype.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1508760" cy="1124712"/>
          </a:xfrm>
          <a:prstGeom prst="roundRect">
            <a:avLst>
              <a:gd name="adj" fmla="val 813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916936"/>
            <a:ext cx="137160" cy="13716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880360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282696"/>
            <a:ext cx="1216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+ location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58568" y="3300984"/>
            <a:ext cx="329184" cy="0"/>
          </a:xfrm>
          <a:prstGeom prst="line">
            <a:avLst/>
          </a:prstGeom>
          <a:noFill/>
          <a:ln w="17780">
            <a:solidFill>
              <a:srgbClr val="58707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660904" y="2743200"/>
            <a:ext cx="1627632" cy="1124712"/>
          </a:xfrm>
          <a:prstGeom prst="roundRect">
            <a:avLst>
              <a:gd name="adj" fmla="val 813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2916936"/>
            <a:ext cx="137160" cy="13716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26664" y="288036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1A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07208" y="3282696"/>
            <a:ext cx="1335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descriptions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3300984"/>
            <a:ext cx="329184" cy="0"/>
          </a:xfrm>
          <a:prstGeom prst="line">
            <a:avLst/>
          </a:prstGeom>
          <a:noFill/>
          <a:ln w="17780">
            <a:solidFill>
              <a:srgbClr val="5870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727448" y="2743200"/>
            <a:ext cx="1682496" cy="1124712"/>
          </a:xfrm>
          <a:prstGeom prst="roundRect">
            <a:avLst>
              <a:gd name="adj" fmla="val 813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4608" y="2916936"/>
            <a:ext cx="137160" cy="137160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93208" y="288036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27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873752" y="3282696"/>
            <a:ext cx="1389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· skill · need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300984"/>
            <a:ext cx="338328" cy="0"/>
          </a:xfrm>
          <a:prstGeom prst="line">
            <a:avLst/>
          </a:prstGeom>
          <a:noFill/>
          <a:ln w="17780">
            <a:solidFill>
              <a:srgbClr val="58707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858000" y="2743200"/>
            <a:ext cx="1828800" cy="1124712"/>
          </a:xfrm>
          <a:prstGeom prst="roundRect">
            <a:avLst>
              <a:gd name="adj" fmla="val 813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2916936"/>
            <a:ext cx="137160" cy="13716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288036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04304" y="3282696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similarity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proximity*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23376" y="3300984"/>
            <a:ext cx="320040" cy="0"/>
          </a:xfrm>
          <a:prstGeom prst="line">
            <a:avLst/>
          </a:prstGeom>
          <a:noFill/>
          <a:ln w="17780">
            <a:solidFill>
              <a:srgbClr val="587078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116568" y="2743200"/>
            <a:ext cx="2286000" cy="1124712"/>
          </a:xfrm>
          <a:prstGeom prst="roundRect">
            <a:avLst>
              <a:gd name="adj" fmla="val 813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3728" y="2916936"/>
            <a:ext cx="137160" cy="13716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82328" y="28803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F1A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262872" y="328269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matches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human review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94576" y="40782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Only when location data is available.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0120" y="4754880"/>
            <a:ext cx="10241280" cy="658368"/>
          </a:xfrm>
          <a:prstGeom prst="roundRect">
            <a:avLst>
              <a:gd name="adj" fmla="val 16667"/>
            </a:avLst>
          </a:prstGeom>
          <a:solidFill>
            <a:srgbClr val="153F43"/>
          </a:solidFill>
          <a:ln w="10160">
            <a:solidFill>
              <a:srgbClr val="153F43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34440" y="4946904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 ·  CLASSIFICATION  ·  SIMILARITY MATCHING  ·  HUMAN REVIEW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5733288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methods, not a claim of completed implementation.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4B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ILLUSTRATIVE SCENARIO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if these resources found each other?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example of the connection the system aims to surface.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2743200"/>
            <a:ext cx="2423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2944368"/>
            <a:ext cx="530352" cy="530352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01368" y="300837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675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UNUSED DESKS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995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school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2743200"/>
            <a:ext cx="2423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24728" y="2944368"/>
            <a:ext cx="530352" cy="530352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24728" y="300837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3675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SKILL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01768" y="3995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nearby carpenter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15400" y="2743200"/>
            <a:ext cx="24231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48088" y="2944368"/>
            <a:ext cx="530352" cy="530352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48088" y="300837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25128" y="3675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NEED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25128" y="3995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community centre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493008"/>
            <a:ext cx="1188720" cy="0"/>
          </a:xfrm>
          <a:prstGeom prst="line">
            <a:avLst/>
          </a:prstGeom>
          <a:noFill/>
          <a:ln w="25400">
            <a:solidFill>
              <a:srgbClr val="167C76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452360" y="3493008"/>
            <a:ext cx="1188720" cy="0"/>
          </a:xfrm>
          <a:prstGeom prst="line">
            <a:avLst/>
          </a:prstGeom>
          <a:noFill/>
          <a:ln w="25400">
            <a:solidFill>
              <a:srgbClr val="167C76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572000" y="3401568"/>
            <a:ext cx="182880" cy="18288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0" y="3401568"/>
            <a:ext cx="182880" cy="18288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4956048"/>
            <a:ext cx="54406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4969764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E27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CONNECTION  ·  ILLUSTRATIVE ONLY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PROTOTYPE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concept to working application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checklist: show the real app here when available.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4672" y="2148840"/>
            <a:ext cx="5559552" cy="3511296"/>
          </a:xfrm>
          <a:prstGeom prst="roundRect">
            <a:avLst>
              <a:gd name="adj" fmla="val 2083"/>
            </a:avLst>
          </a:prstGeom>
          <a:solidFill>
            <a:srgbClr val="F5F4EF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48840"/>
            <a:ext cx="5559552" cy="338328"/>
          </a:xfrm>
          <a:prstGeom prst="roundRect">
            <a:avLst>
              <a:gd name="adj" fmla="val 21622"/>
            </a:avLst>
          </a:prstGeom>
          <a:solidFill>
            <a:srgbClr val="DFE6E1"/>
          </a:solidFill>
          <a:ln w="10160">
            <a:solidFill>
              <a:srgbClr val="DFE6E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2258568"/>
            <a:ext cx="100584" cy="100584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258568"/>
            <a:ext cx="100584" cy="100584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2258568"/>
            <a:ext cx="100584" cy="100584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63624" y="223113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INDIA  /  MATCH EXPLORER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43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2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 resource or a need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15568" y="3081528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3218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 Gently used desks available for repair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5568" y="3913632"/>
            <a:ext cx="1335024" cy="338328"/>
          </a:xfrm>
          <a:prstGeom prst="roundRect">
            <a:avLst>
              <a:gd name="adj" fmla="val 21622"/>
            </a:avLst>
          </a:prstGeom>
          <a:solidFill>
            <a:srgbClr val="167C76"/>
          </a:solidFill>
          <a:ln w="10160">
            <a:solidFill>
              <a:srgbClr val="167C7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97864" y="3977640"/>
            <a:ext cx="11704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MATCHES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15568" y="4507992"/>
            <a:ext cx="4919472" cy="0"/>
          </a:xfrm>
          <a:prstGeom prst="line">
            <a:avLst/>
          </a:prstGeom>
          <a:noFill/>
          <a:ln w="10160">
            <a:solidFill>
              <a:srgbClr val="D8DCD7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1115568" y="4663440"/>
            <a:ext cx="3383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70" kern="0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CONNECTION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0932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8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Insert screenshot of the actual prototype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2523744"/>
            <a:ext cx="329184" cy="329184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5831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424928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descriptions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3282696"/>
            <a:ext cx="329184" cy="329184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0" y="33421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424928" y="3300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Categorise information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49440" y="4041648"/>
            <a:ext cx="329184" cy="329184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1010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24928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potential matches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4800600"/>
            <a:ext cx="329184" cy="329184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49440" y="48600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424928" y="4818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match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5879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1A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MOCK-UP ONLY  ·  REPLACE WITH REAL APP CAPTURE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4B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INNOVATION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More than a map. More than a directory.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proposed shift: from finding things to discovering relationships.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221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24928" y="2221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2615184"/>
            <a:ext cx="402336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0160">
            <a:solidFill>
              <a:srgbClr val="D8DC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3127248"/>
            <a:ext cx="530352" cy="530352"/>
          </a:xfrm>
          <a:prstGeom prst="ellipse">
            <a:avLst/>
          </a:prstGeom>
          <a:solidFill>
            <a:srgbClr val="DDF1EB"/>
          </a:solidFill>
          <a:ln w="10160">
            <a:solidFill>
              <a:srgbClr val="DDF1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21024" y="3794760"/>
            <a:ext cx="530352" cy="530352"/>
          </a:xfrm>
          <a:prstGeom prst="ellipse">
            <a:avLst/>
          </a:prstGeom>
          <a:solidFill>
            <a:srgbClr val="F7E8CC"/>
          </a:solidFill>
          <a:ln w="10160">
            <a:solidFill>
              <a:srgbClr val="F7E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40864" y="4041648"/>
            <a:ext cx="530352" cy="530352"/>
          </a:xfrm>
          <a:prstGeom prst="ellipse">
            <a:avLst/>
          </a:prstGeom>
          <a:solidFill>
            <a:srgbClr val="E9EDE8"/>
          </a:solidFill>
          <a:ln w="10160">
            <a:solidFill>
              <a:srgbClr val="E9ED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3767328"/>
            <a:ext cx="8961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4443984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176272" y="4681728"/>
            <a:ext cx="868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74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83664" y="3493008"/>
            <a:ext cx="603504" cy="621792"/>
          </a:xfrm>
          <a:prstGeom prst="line">
            <a:avLst/>
          </a:prstGeom>
          <a:noFill/>
          <a:ln w="16510">
            <a:solidFill>
              <a:srgbClr val="D8DCD7"/>
            </a:solidFill>
            <a:prstDash val="dash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862072" y="4343400"/>
            <a:ext cx="822960" cy="-301752"/>
          </a:xfrm>
          <a:prstGeom prst="line">
            <a:avLst/>
          </a:prstGeom>
          <a:noFill/>
          <a:ln w="16510">
            <a:solidFill>
              <a:srgbClr val="D8DCD7"/>
            </a:solidFill>
            <a:prstDash val="dash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5074920" y="341071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A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6446520" y="2615184"/>
            <a:ext cx="4800600" cy="2212848"/>
          </a:xfrm>
          <a:prstGeom prst="roundRect">
            <a:avLst>
              <a:gd name="adj" fmla="val 4132"/>
            </a:avLst>
          </a:prstGeom>
          <a:solidFill>
            <a:srgbClr val="0B1B2A"/>
          </a:solidFill>
          <a:ln w="10160">
            <a:solidFill>
              <a:srgbClr val="0B1B2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246120"/>
            <a:ext cx="1225296" cy="-228600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357616" y="3017520"/>
            <a:ext cx="1243584" cy="320040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132320" y="3246120"/>
            <a:ext cx="548640" cy="850392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357616" y="3017520"/>
            <a:ext cx="-676656" cy="1078992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357616" y="3017520"/>
            <a:ext cx="786384" cy="1261872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601200" y="3337560"/>
            <a:ext cx="-457200" cy="941832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601200" y="3337560"/>
            <a:ext cx="822960" cy="649224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680960" y="4096512"/>
            <a:ext cx="1463040" cy="182880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144000" y="4279392"/>
            <a:ext cx="1280160" cy="-292608"/>
          </a:xfrm>
          <a:prstGeom prst="line">
            <a:avLst/>
          </a:prstGeom>
          <a:noFill/>
          <a:ln w="1524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132320" y="3246120"/>
            <a:ext cx="164592" cy="164592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7616" y="3017520"/>
            <a:ext cx="164592" cy="164592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3337560"/>
            <a:ext cx="164592" cy="164592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4096512"/>
            <a:ext cx="164592" cy="164592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4279392"/>
            <a:ext cx="164592" cy="164592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24160" y="3986784"/>
            <a:ext cx="164592" cy="164592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45994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MATCH SUGGESTIONS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0" y="5330952"/>
            <a:ext cx="7635240" cy="420624"/>
          </a:xfrm>
          <a:prstGeom prst="roundRect">
            <a:avLst>
              <a:gd name="adj" fmla="val 17391"/>
            </a:avLst>
          </a:prstGeom>
          <a:solidFill>
            <a:srgbClr val="DDF1EB"/>
          </a:solidFill>
          <a:ln w="10160">
            <a:solidFill>
              <a:srgbClr val="DDF1E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68880" y="5431536"/>
            <a:ext cx="7269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7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DIFFERENTIATOR  ·  CONNECT CAPACITY TO COMMUNITY NEED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46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POTENTIAL IMPACT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74980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hidden capacity visible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13441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discovery network can support better use of what communities already have.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" y="2258568"/>
            <a:ext cx="338328" cy="338328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22576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272284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local skills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2962656"/>
            <a:ext cx="338328" cy="338328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3026664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976372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 available resources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" y="3666744"/>
            <a:ext cx="338328" cy="338328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730752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680460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material reuse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4370832"/>
            <a:ext cx="338328" cy="338328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443484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384548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collaboration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39128" y="22585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SDGs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73952" y="2788920"/>
            <a:ext cx="1033272" cy="1161288"/>
          </a:xfrm>
          <a:prstGeom prst="roundRect">
            <a:avLst>
              <a:gd name="adj" fmla="val 708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8272" y="2953512"/>
            <a:ext cx="484632" cy="484632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3035808"/>
            <a:ext cx="484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3575304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726680" y="2788920"/>
            <a:ext cx="1033272" cy="1161288"/>
          </a:xfrm>
          <a:prstGeom prst="roundRect">
            <a:avLst>
              <a:gd name="adj" fmla="val 708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2953512"/>
            <a:ext cx="484632" cy="484632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01000" y="3035808"/>
            <a:ext cx="484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575304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979408" y="2788920"/>
            <a:ext cx="1033272" cy="1161288"/>
          </a:xfrm>
          <a:prstGeom prst="roundRect">
            <a:avLst>
              <a:gd name="adj" fmla="val 708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53728" y="2953512"/>
            <a:ext cx="484632" cy="484632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53728" y="3035808"/>
            <a:ext cx="484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025128" y="3575304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0232136" y="2788920"/>
            <a:ext cx="1033272" cy="1161288"/>
          </a:xfrm>
          <a:prstGeom prst="roundRect">
            <a:avLst>
              <a:gd name="adj" fmla="val 7080"/>
            </a:avLst>
          </a:prstGeom>
          <a:solidFill>
            <a:srgbClr val="132B3A"/>
          </a:solidFill>
          <a:ln w="10160">
            <a:solidFill>
              <a:srgbClr val="3151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06456" y="2953512"/>
            <a:ext cx="484632" cy="484632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06456" y="3035808"/>
            <a:ext cx="484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277856" y="3575304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PARTNERSHIPS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20256" y="4690872"/>
            <a:ext cx="3849624" cy="0"/>
          </a:xfrm>
          <a:prstGeom prst="line">
            <a:avLst/>
          </a:prstGeom>
          <a:noFill/>
          <a:ln w="13970">
            <a:solidFill>
              <a:srgbClr val="36736F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720840" y="4599432"/>
            <a:ext cx="182880" cy="18288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4599432"/>
            <a:ext cx="182880" cy="182880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0" y="4599432"/>
            <a:ext cx="182880" cy="182880"/>
          </a:xfrm>
          <a:prstGeom prst="ellipse">
            <a:avLst/>
          </a:prstGeom>
          <a:solidFill>
            <a:srgbClr val="E27860"/>
          </a:solidFill>
          <a:ln w="10160">
            <a:solidFill>
              <a:srgbClr val="E278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69296" y="4599432"/>
            <a:ext cx="182880" cy="182880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0" y="50749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 ·  SKILLS  ·  RESOURCES  ·  NEEDS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633472" y="57424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D3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outcomes; measure through real-world testing.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4B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786384"/>
            <a:ext cx="6675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 WHAT EXISTS.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 WHAT MATTERS.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86384" y="2194560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Unlocking the potential of India’s hidden resources.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0" y="630936"/>
            <a:ext cx="283464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" y="2926080"/>
            <a:ext cx="5998464" cy="0"/>
          </a:xfrm>
          <a:prstGeom prst="line">
            <a:avLst/>
          </a:prstGeom>
          <a:noFill/>
          <a:ln w="12700">
            <a:solidFill>
              <a:srgbClr val="31515C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 txBox="1"/>
          <p:nvPr/>
        </p:nvSpPr>
        <p:spPr>
          <a:xfrm>
            <a:off x="822960" y="32826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F1AE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41248" y="3767328"/>
            <a:ext cx="146304" cy="146304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15568" y="3703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Indian-language support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22776" y="3767328"/>
            <a:ext cx="146304" cy="146304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97096" y="37033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Wider geographic coverage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" y="4562856"/>
            <a:ext cx="146304" cy="146304"/>
          </a:xfrm>
          <a:prstGeom prst="ellipse">
            <a:avLst/>
          </a:prstGeom>
          <a:solidFill>
            <a:srgbClr val="38C6B2"/>
          </a:solidFill>
          <a:ln w="10160">
            <a:solidFill>
              <a:srgbClr val="38C6B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15568" y="44988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 + community partnerships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22776" y="4562856"/>
            <a:ext cx="146304" cy="146304"/>
          </a:xfrm>
          <a:prstGeom prst="ellipse">
            <a:avLst/>
          </a:prstGeom>
          <a:solidFill>
            <a:srgbClr val="F1AE4B"/>
          </a:solidFill>
          <a:ln w="10160">
            <a:solidFill>
              <a:srgbClr val="F1AE4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97096" y="44988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testing + impact measurement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0392" y="5605272"/>
            <a:ext cx="5303520" cy="274320"/>
          </a:xfrm>
          <a:prstGeom prst="roundRect">
            <a:avLst>
              <a:gd name="adj" fmla="val 33333"/>
            </a:avLst>
          </a:prstGeom>
          <a:solidFill>
            <a:srgbClr val="132B3A"/>
          </a:solidFill>
          <a:ln w="10160">
            <a:solidFill>
              <a:srgbClr val="132B3A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1832" y="56189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38C6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ZAARA MARIYAM  ·  AICTE × IBM SKILLSBUILD × BHARATCARES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5175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3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INDIA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4B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Invisible India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Invisible India | AI-Powered Social Infrastructure Discovery Network</dc:title>
  <dc:subject>AICTE x IBM SkillsBuild x BharatCares Applied AI/ML Internship</dc:subject>
  <dc:creator>Zaara Mariyam</dc:creator>
  <cp:lastModifiedBy>Zaara Mariyam</cp:lastModifiedBy>
  <cp:revision>1</cp:revision>
  <dcterms:created xsi:type="dcterms:W3CDTF">2026-10-15T07:34:12Z</dcterms:created>
  <dcterms:modified xsi:type="dcterms:W3CDTF">2026-10-15T07:34:12Z</dcterms:modified>
</cp:coreProperties>
</file>